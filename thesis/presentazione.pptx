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DM Serif Display" charset="1" panose="00000000000000000000"/>
      <p:regular r:id="rId23"/>
    </p:embeddedFont>
    <p:embeddedFont>
      <p:font typeface="Public Sans Bold" charset="1" panose="00000000000000000000"/>
      <p:regular r:id="rId24"/>
    </p:embeddedFont>
    <p:embeddedFont>
      <p:font typeface="Public Sans" charset="1" panose="00000000000000000000"/>
      <p:regular r:id="rId25"/>
    </p:embeddedFont>
    <p:embeddedFont>
      <p:font typeface="DM Serif Display Italics" charset="1" panose="00000000000000000000"/>
      <p:regular r:id="rId26"/>
    </p:embeddedFont>
    <p:embeddedFont>
      <p:font typeface="Public Sans Italics" charset="1" panose="00000000000000000000"/>
      <p:regular r:id="rId27"/>
    </p:embeddedFont>
    <p:embeddedFont>
      <p:font typeface="Roboto Mono" charset="1" panose="000000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https://github.com/ttetrao/llm-guided-rl/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https://github.com/ttetrao/llm-guided-rl/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04950" y="1737995"/>
            <a:ext cx="12887097" cy="4599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10"/>
              </a:lnSpc>
              <a:spcBef>
                <a:spcPct val="0"/>
              </a:spcBef>
            </a:pPr>
            <a:r>
              <a:rPr lang="en-US" sz="6578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Util</a:t>
            </a:r>
            <a:r>
              <a:rPr lang="en-US" sz="6578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izzo di modelli linguistici di grandi dimensioni per migliorare il processo di apprendimento per rinforzo. ​</a:t>
            </a:r>
          </a:p>
        </p:txBody>
      </p:sp>
      <p:sp>
        <p:nvSpPr>
          <p:cNvPr name="Freeform 4" id="4"/>
          <p:cNvSpPr/>
          <p:nvPr/>
        </p:nvSpPr>
        <p:spPr>
          <a:xfrm>
            <a:off x="0" y="111737"/>
            <a:ext cx="16556309" cy="7225784"/>
          </a:xfrm>
          <a:custGeom>
            <a:avLst/>
            <a:gdLst/>
            <a:ahLst/>
            <a:cxnLst/>
            <a:rect r="r" b="b" t="t" l="l"/>
            <a:pathLst>
              <a:path h="7225784" w="16556309">
                <a:moveTo>
                  <a:pt x="0" y="7225784"/>
                </a:moveTo>
                <a:lnTo>
                  <a:pt x="16175309" y="7225784"/>
                </a:lnTo>
                <a:cubicBezTo>
                  <a:pt x="16385730" y="7225784"/>
                  <a:pt x="16556309" y="7055205"/>
                  <a:pt x="16556309" y="6844784"/>
                </a:cubicBezTo>
                <a:lnTo>
                  <a:pt x="1655630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1890222" y="7954518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29 SETTEMBRE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90222" y="8417433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126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PIETRO FAZION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04950" y="1191895"/>
            <a:ext cx="9656935" cy="669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99"/>
              </a:lnSpc>
              <a:spcBef>
                <a:spcPct val="0"/>
              </a:spcBef>
            </a:pPr>
            <a:r>
              <a:rPr lang="en-US" sz="3999" i="true">
                <a:solidFill>
                  <a:srgbClr val="121217"/>
                </a:solidFill>
                <a:latin typeface="DM Serif Display Italics"/>
                <a:ea typeface="DM Serif Display Italics"/>
                <a:cs typeface="DM Serif Display Italics"/>
                <a:sym typeface="DM Serif Display Italics"/>
              </a:rPr>
              <a:t>Discussione di laurea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04950" y="8026908"/>
            <a:ext cx="8031849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REPOSITORY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8489823"/>
            <a:ext cx="562553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i="true" spc="126" u="sng">
                <a:solidFill>
                  <a:srgbClr val="121217"/>
                </a:solidFill>
                <a:latin typeface="Public Sans Italics"/>
                <a:ea typeface="Public Sans Italics"/>
                <a:cs typeface="Public Sans Italics"/>
                <a:sym typeface="Public Sans Italics"/>
                <a:hlinkClick r:id="rId3" tooltip="https://github.com/ttetrao/llm-guided-rl/"/>
              </a:rPr>
              <a:t>https://github.com/ttetrao/llm-guided-rl/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3747929"/>
            <a:ext cx="9268617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Q-learning propaga il valore a ritroso dal goal.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se il goal si vede di rado, l’agente converge con fatica.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Idea: generare una funzione di valore utilizzando un LLM su alcuni stati significativi.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Introduzione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45213"/>
            <a:ext cx="6604677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Perché farlo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4358207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816765" y="2511863"/>
            <a:ext cx="5442535" cy="5442535"/>
          </a:xfrm>
          <a:custGeom>
            <a:avLst/>
            <a:gdLst/>
            <a:ahLst/>
            <a:cxnLst/>
            <a:rect r="r" b="b" t="t" l="l"/>
            <a:pathLst>
              <a:path h="5442535" w="5442535">
                <a:moveTo>
                  <a:pt x="0" y="0"/>
                </a:moveTo>
                <a:lnTo>
                  <a:pt x="5442535" y="0"/>
                </a:lnTo>
                <a:lnTo>
                  <a:pt x="5442535" y="5442534"/>
                </a:lnTo>
                <a:lnTo>
                  <a:pt x="0" y="5442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3756404"/>
            <a:ext cx="9268617" cy="4467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Reward 1 solo sul goal, 0 altrove.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Il goal è bloccato da una porta.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Ambiente completamente osservabile.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Stato grafo: (dx, dy, dir, has_key, door_open)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Ground truth per il confronto calcolata con value iteration.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seed usato per proof of concept 1337</a:t>
            </a:r>
          </a:p>
          <a:p>
            <a:pPr algn="l">
              <a:lnSpc>
                <a:spcPts val="4479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Introduzione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645213"/>
            <a:ext cx="6604677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Ambiente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102407"/>
            <a:ext cx="4358207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Metodo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645213"/>
            <a:ext cx="13022184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Stati usati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848510"/>
            <a:ext cx="12472181" cy="3343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Per un singolo seed gli stati totali sono 480,</a:t>
            </a:r>
          </a:p>
          <a:p>
            <a:pPr algn="l">
              <a:lnSpc>
                <a:spcPts val="4479"/>
              </a:lnSpc>
            </a:pP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Di questi ne vengono estratti un sottoinsieme: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Bottleneck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: stati in cui lo stage dell’agente cambia.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Checkpoint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: stati estratti tra quelli visitati durante il training con q-learning in base a scaglioni di success rate.</a:t>
            </a:r>
          </a:p>
          <a:p>
            <a:pPr algn="l">
              <a:lnSpc>
                <a:spcPts val="447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Metodo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645213"/>
            <a:ext cx="1020296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Generazione Q-Function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734710"/>
            <a:ext cx="10837565" cy="3575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Generazione “Q-via-V”: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il modello llm valuta la mappa ascii dello stato corrente s generando il V-value dei successivi s’ = (s,a) seguendo le istruzioni del prompt, e definizioni delle funzioni di valore (</a:t>
            </a: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Sutton &amp; Barto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).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Output: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un JSON rappresentante la Q-function.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Verifica: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lo script scarta le risposte anomale o incoerenti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b="true" sz="2554" spc="102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Modelli usati: </a:t>
            </a: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Gpt-oss 120b, Gemma4 26b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398208" y="3014126"/>
            <a:ext cx="4960323" cy="4568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K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</a:t>
            </a: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    |    |    | ▇  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|A(R)|D(O)|    |  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|    |    |    | ▇  |    | G  |</a:t>
            </a:r>
          </a:p>
          <a:p>
            <a:pPr algn="ctr">
              <a:lnSpc>
                <a:spcPts val="2793"/>
              </a:lnSpc>
            </a:pPr>
            <a:r>
              <a:rPr lang="en-US" sz="1995">
                <a:solidFill>
                  <a:srgbClr val="121217"/>
                </a:solidFill>
                <a:latin typeface="Roboto Mono"/>
                <a:ea typeface="Roboto Mono"/>
                <a:cs typeface="Roboto Mono"/>
                <a:sym typeface="Roboto Mono"/>
              </a:rPr>
              <a:t>+----+----+----+----+----+----+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523393" y="3642713"/>
            <a:ext cx="6341572" cy="4150714"/>
          </a:xfrm>
          <a:custGeom>
            <a:avLst/>
            <a:gdLst/>
            <a:ahLst/>
            <a:cxnLst/>
            <a:rect r="r" b="b" t="t" l="l"/>
            <a:pathLst>
              <a:path h="4150714" w="6341572">
                <a:moveTo>
                  <a:pt x="0" y="0"/>
                </a:moveTo>
                <a:lnTo>
                  <a:pt x="6341572" y="0"/>
                </a:lnTo>
                <a:lnTo>
                  <a:pt x="6341572" y="4150715"/>
                </a:lnTo>
                <a:lnTo>
                  <a:pt x="0" y="41507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1917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423035" y="3642713"/>
            <a:ext cx="10887119" cy="4150714"/>
          </a:xfrm>
          <a:custGeom>
            <a:avLst/>
            <a:gdLst/>
            <a:ahLst/>
            <a:cxnLst/>
            <a:rect r="r" b="b" t="t" l="l"/>
            <a:pathLst>
              <a:path h="4150714" w="10887119">
                <a:moveTo>
                  <a:pt x="0" y="0"/>
                </a:moveTo>
                <a:lnTo>
                  <a:pt x="10887120" y="0"/>
                </a:lnTo>
                <a:lnTo>
                  <a:pt x="10887120" y="4150715"/>
                </a:lnTo>
                <a:lnTo>
                  <a:pt x="0" y="41507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302105"/>
            <a:ext cx="8725393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valori stimati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7897778" y="3323305"/>
            <a:ext cx="9780044" cy="4935431"/>
          </a:xfrm>
          <a:custGeom>
            <a:avLst/>
            <a:gdLst/>
            <a:ahLst/>
            <a:cxnLst/>
            <a:rect r="r" b="b" t="t" l="l"/>
            <a:pathLst>
              <a:path h="4935431" w="9780044">
                <a:moveTo>
                  <a:pt x="0" y="0"/>
                </a:moveTo>
                <a:lnTo>
                  <a:pt x="9780045" y="0"/>
                </a:lnTo>
                <a:lnTo>
                  <a:pt x="9780045" y="4935431"/>
                </a:lnTo>
                <a:lnTo>
                  <a:pt x="0" y="49354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6574"/>
            </a:stretch>
          </a:blipFill>
          <a:ln cap="sq">
            <a:noFill/>
            <a:prstDash val="solid"/>
            <a:miter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302105"/>
            <a:ext cx="1020296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Accuratezza policy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8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218953"/>
            <a:ext cx="6462772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Top-1 tie-aware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: conta come corretta qualsiasi azione a pari merito con l'ottimo.</a:t>
            </a:r>
          </a:p>
          <a:p>
            <a:pPr algn="l" marL="604519" indent="-302260" lvl="1">
              <a:lnSpc>
                <a:spcPts val="4479"/>
              </a:lnSpc>
              <a:buFont typeface="Arial"/>
              <a:buChar char="•"/>
            </a:pPr>
            <a:r>
              <a:rPr lang="en-US" b="true" sz="2799" spc="11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Top-1 strict:</a:t>
            </a:r>
            <a:r>
              <a:rPr lang="en-US" sz="2799" spc="11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 conta come corretta solo la prima azione in ordine.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7796084" y="2945729"/>
            <a:ext cx="9965640" cy="5969954"/>
          </a:xfrm>
          <a:custGeom>
            <a:avLst/>
            <a:gdLst/>
            <a:ahLst/>
            <a:cxnLst/>
            <a:rect r="r" b="b" t="t" l="l"/>
            <a:pathLst>
              <a:path h="5969954" w="9965640">
                <a:moveTo>
                  <a:pt x="0" y="0"/>
                </a:moveTo>
                <a:lnTo>
                  <a:pt x="9965640" y="0"/>
                </a:lnTo>
                <a:lnTo>
                  <a:pt x="9965640" y="5969954"/>
                </a:lnTo>
                <a:lnTo>
                  <a:pt x="0" y="59699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356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645213"/>
            <a:ext cx="1020296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Inizializzazione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9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834315"/>
            <a:ext cx="6767384" cy="4530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b="true" sz="2500" spc="100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Stati usati: </a:t>
            </a: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solo bottleneck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La Q-Table viene inizializzata usando i valori generati dal LLM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α = 0.04, γ = 0.99, ε-decay = 0.99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solo bottleneck</a:t>
            </a:r>
          </a:p>
          <a:p>
            <a:pPr algn="l" marL="539766" indent="-269883" lvl="1">
              <a:lnSpc>
                <a:spcPts val="4000"/>
              </a:lnSpc>
              <a:buFont typeface="Arial"/>
              <a:buChar char="•"/>
            </a:pPr>
            <a:r>
              <a:rPr lang="en-US" sz="2500" spc="100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confronto con un agente allenato con  iperparametri standard (α = 0.25, γ =  0.99, ε-decay 0.998)</a:t>
            </a:r>
          </a:p>
          <a:p>
            <a:pPr algn="l">
              <a:lnSpc>
                <a:spcPts val="4000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3010674" y="2162980"/>
            <a:ext cx="12266651" cy="7213112"/>
          </a:xfrm>
          <a:custGeom>
            <a:avLst/>
            <a:gdLst/>
            <a:ahLst/>
            <a:cxnLst/>
            <a:rect r="r" b="b" t="t" l="l"/>
            <a:pathLst>
              <a:path h="7213112" w="12266651">
                <a:moveTo>
                  <a:pt x="0" y="0"/>
                </a:moveTo>
                <a:lnTo>
                  <a:pt x="12266652" y="0"/>
                </a:lnTo>
                <a:lnTo>
                  <a:pt x="12266652" y="7213113"/>
                </a:lnTo>
                <a:lnTo>
                  <a:pt x="0" y="72131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38" r="0" b="-8331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6208803" y="2288580"/>
            <a:ext cx="11645469" cy="6969720"/>
          </a:xfrm>
          <a:custGeom>
            <a:avLst/>
            <a:gdLst/>
            <a:ahLst/>
            <a:cxnLst/>
            <a:rect r="r" b="b" t="t" l="l"/>
            <a:pathLst>
              <a:path h="6969720" w="11645469">
                <a:moveTo>
                  <a:pt x="0" y="0"/>
                </a:moveTo>
                <a:lnTo>
                  <a:pt x="11645470" y="0"/>
                </a:lnTo>
                <a:lnTo>
                  <a:pt x="11645470" y="6969720"/>
                </a:lnTo>
                <a:lnTo>
                  <a:pt x="0" y="69697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00" t="0" r="-1000" b="-9608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340485" y="2037902"/>
            <a:ext cx="7382107" cy="250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3"/>
              </a:lnSpc>
              <a:spcBef>
                <a:spcPct val="0"/>
              </a:spcBef>
            </a:pPr>
            <a:r>
              <a:rPr lang="en-US" sz="1552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</a:t>
            </a:r>
            <a:r>
              <a:rPr lang="en-US" sz="1552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0.15, gamma 0.95, eps_decay 0.995 vs </a:t>
            </a:r>
            <a:r>
              <a:rPr lang="en-US" sz="1552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 0.15, gamma 0.99, eps_decay 0.999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383830"/>
            <a:ext cx="4775016" cy="597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47"/>
              </a:lnSpc>
            </a:pPr>
            <a:r>
              <a:rPr lang="en-US" sz="4547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Esempio su 5 seed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975962"/>
            <a:ext cx="4828467" cy="1325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7"/>
              </a:lnSpc>
            </a:pPr>
            <a:r>
              <a:rPr lang="en-US" sz="2211" spc="88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Non è una prova dell’efficacia sulla </a:t>
            </a:r>
            <a:r>
              <a:rPr lang="en-US" sz="2211" spc="88" b="true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generalizzazione </a:t>
            </a:r>
            <a:r>
              <a:rPr lang="en-US" sz="2211" spc="88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ma è un punto di partenza.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8293578" y="3015421"/>
            <a:ext cx="9697216" cy="4810275"/>
          </a:xfrm>
          <a:custGeom>
            <a:avLst/>
            <a:gdLst/>
            <a:ahLst/>
            <a:cxnLst/>
            <a:rect r="r" b="b" t="t" l="l"/>
            <a:pathLst>
              <a:path h="4810275" w="9697216">
                <a:moveTo>
                  <a:pt x="0" y="0"/>
                </a:moveTo>
                <a:lnTo>
                  <a:pt x="9697216" y="0"/>
                </a:lnTo>
                <a:lnTo>
                  <a:pt x="9697216" y="4810274"/>
                </a:lnTo>
                <a:lnTo>
                  <a:pt x="0" y="48102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8768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273105"/>
            <a:ext cx="10718976" cy="742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0"/>
              </a:lnSpc>
            </a:pPr>
            <a:r>
              <a:rPr lang="en-US" sz="56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FrozenLake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117080"/>
            <a:ext cx="7153065" cy="4097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3322" indent="-246661" lvl="1">
              <a:lnSpc>
                <a:spcPts val="3655"/>
              </a:lnSpc>
              <a:buFont typeface="Arial"/>
              <a:buChar char="•"/>
            </a:pPr>
            <a:r>
              <a:rPr lang="en-US" b="true" sz="2284" spc="9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Ambiente non deterministico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 il risultato di un'azione è aleatorio (l’agente fallisce 2/3).</a:t>
            </a:r>
          </a:p>
          <a:p>
            <a:pPr algn="l" marL="493322" indent="-246661" lvl="1">
              <a:lnSpc>
                <a:spcPts val="3655"/>
              </a:lnSpc>
              <a:buFont typeface="Arial"/>
              <a:buChar char="•"/>
            </a:pP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Il modello fatica a gestire la generazione dei valori tenendo conto di quell'aletorietà e dalla struttura della mappe successive.</a:t>
            </a:r>
          </a:p>
          <a:p>
            <a:pPr algn="l" marL="493322" indent="-246661" lvl="1">
              <a:lnSpc>
                <a:spcPts val="3655"/>
              </a:lnSpc>
              <a:buFont typeface="Arial"/>
              <a:buChar char="•"/>
            </a:pP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Causa probabile: incapacità di "immaginare" gli stati successivi, modello troppo poco intelligente</a:t>
            </a:r>
          </a:p>
          <a:p>
            <a:pPr algn="l" marL="493322" indent="-246661" lvl="1">
              <a:lnSpc>
                <a:spcPts val="3655"/>
              </a:lnSpc>
              <a:buFont typeface="Arial"/>
              <a:buChar char="•"/>
            </a:pPr>
            <a:r>
              <a:rPr lang="en-US" b="true" sz="2284" spc="9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MAE: 0.17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9769316" y="3594720"/>
            <a:ext cx="7458433" cy="5545788"/>
          </a:xfrm>
          <a:custGeom>
            <a:avLst/>
            <a:gdLst/>
            <a:ahLst/>
            <a:cxnLst/>
            <a:rect r="r" b="b" t="t" l="l"/>
            <a:pathLst>
              <a:path h="5545788" w="7458433">
                <a:moveTo>
                  <a:pt x="0" y="0"/>
                </a:moveTo>
                <a:lnTo>
                  <a:pt x="7458434" y="0"/>
                </a:lnTo>
                <a:lnTo>
                  <a:pt x="7458434" y="5545787"/>
                </a:lnTo>
                <a:lnTo>
                  <a:pt x="0" y="55457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0000" t="-16010" r="0" b="-8054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630790"/>
            <a:ext cx="1071897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Frozenlake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9083" y="3707418"/>
            <a:ext cx="7600169" cy="549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284" spc="91" b="true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Stati valutati: 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19/53 validi (esclusi hole), 36%</a:t>
            </a:r>
          </a:p>
          <a:p>
            <a:pPr algn="l">
              <a:lnSpc>
                <a:spcPts val="3655"/>
              </a:lnSpc>
            </a:pPr>
          </a:p>
          <a:p>
            <a:pPr algn="l">
              <a:lnSpc>
                <a:spcPts val="3655"/>
              </a:lnSpc>
            </a:pPr>
            <a:r>
              <a:rPr lang="en-US" sz="2284" spc="91" b="true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Regret medio: 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quanto valore viene perso scegliendo l'azione che il modello ha valutato migliore invece di quella ottima (value iteration).</a:t>
            </a:r>
          </a:p>
          <a:p>
            <a:pPr algn="l" marL="493323" indent="-246661" lvl="1">
              <a:lnSpc>
                <a:spcPts val="3655"/>
              </a:lnSpc>
              <a:buFont typeface="Arial"/>
              <a:buChar char="•"/>
            </a:pPr>
            <a:r>
              <a:rPr lang="en-US" b="true" sz="2284" spc="9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regret medio: 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0.0114 (0.0043 escluso il caso peggiore)</a:t>
            </a:r>
          </a:p>
          <a:p>
            <a:pPr algn="l" marL="493323" indent="-246661" lvl="1">
              <a:lnSpc>
                <a:spcPts val="3655"/>
              </a:lnSpc>
              <a:buFont typeface="Arial"/>
              <a:buChar char="•"/>
            </a:pPr>
            <a:r>
              <a:rPr lang="en-US" b="true" sz="2284" spc="9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regret medio su 20000 inizializzazioni casuali: 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0.073 (min 0.018, max 0.115)</a:t>
            </a:r>
          </a:p>
          <a:p>
            <a:pPr algn="l" marL="493323" indent="-246661" lvl="1">
              <a:lnSpc>
                <a:spcPts val="3655"/>
              </a:lnSpc>
              <a:buFont typeface="Arial"/>
              <a:buChar char="•"/>
            </a:pP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l’</a:t>
            </a:r>
            <a:r>
              <a:rPr lang="en-US" b="true" sz="2284" spc="9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inizializzazione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 produce comunque un inizializzazione </a:t>
            </a:r>
            <a:r>
              <a:rPr lang="en-US" b="true" sz="2284" spc="91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migliore</a:t>
            </a:r>
            <a:r>
              <a:rPr lang="en-US" sz="2284" spc="91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 rispetto ad una casuale.</a:t>
            </a:r>
          </a:p>
          <a:p>
            <a:pPr algn="l">
              <a:lnSpc>
                <a:spcPts val="3655"/>
              </a:lnSpc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3228652" y="2315085"/>
            <a:ext cx="11830696" cy="6943215"/>
          </a:xfrm>
          <a:custGeom>
            <a:avLst/>
            <a:gdLst/>
            <a:ahLst/>
            <a:cxnLst/>
            <a:rect r="r" b="b" t="t" l="l"/>
            <a:pathLst>
              <a:path h="6943215" w="11830696">
                <a:moveTo>
                  <a:pt x="0" y="0"/>
                </a:moveTo>
                <a:lnTo>
                  <a:pt x="11830696" y="0"/>
                </a:lnTo>
                <a:lnTo>
                  <a:pt x="11830696" y="6943215"/>
                </a:lnTo>
                <a:lnTo>
                  <a:pt x="0" y="69432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9583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471886" y="1941134"/>
            <a:ext cx="3344228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</a:t>
            </a:r>
            <a:r>
              <a:rPr lang="en-US" sz="14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0.05, gamma 0.99, eps_decay 0.99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3228652" y="2315085"/>
            <a:ext cx="11830696" cy="6943215"/>
          </a:xfrm>
          <a:custGeom>
            <a:avLst/>
            <a:gdLst/>
            <a:ahLst/>
            <a:cxnLst/>
            <a:rect r="r" b="b" t="t" l="l"/>
            <a:pathLst>
              <a:path h="6943215" w="11830696">
                <a:moveTo>
                  <a:pt x="0" y="0"/>
                </a:moveTo>
                <a:lnTo>
                  <a:pt x="11830696" y="0"/>
                </a:lnTo>
                <a:lnTo>
                  <a:pt x="11830696" y="6943215"/>
                </a:lnTo>
                <a:lnTo>
                  <a:pt x="0" y="69432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9583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596176" y="1969979"/>
            <a:ext cx="7095649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"/>
              </a:lnSpc>
              <a:spcBef>
                <a:spcPct val="0"/>
              </a:spcBef>
            </a:pPr>
            <a:r>
              <a:rPr lang="en-US" sz="14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</a:t>
            </a:r>
            <a:r>
              <a:rPr lang="en-US" sz="14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0.05, gamma 0.99, eps_decay 0.99 vs </a:t>
            </a:r>
            <a:r>
              <a:rPr lang="en-US" sz="14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alpha 0.05, gamma 0.99, eps_decay 0.999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Risultati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Limiti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15</a:t>
            </a:r>
          </a:p>
        </p:txBody>
      </p:sp>
      <p:sp>
        <p:nvSpPr>
          <p:cNvPr name="Freeform 5" id="5"/>
          <p:cNvSpPr/>
          <p:nvPr/>
        </p:nvSpPr>
        <p:spPr>
          <a:xfrm>
            <a:off x="3051162" y="7903482"/>
            <a:ext cx="15470263" cy="2383518"/>
          </a:xfrm>
          <a:custGeom>
            <a:avLst/>
            <a:gdLst/>
            <a:ahLst/>
            <a:cxnLst/>
            <a:rect r="r" b="b" t="t" l="l"/>
            <a:pathLst>
              <a:path h="2383518" w="15470263">
                <a:moveTo>
                  <a:pt x="0" y="2383518"/>
                </a:moveTo>
                <a:lnTo>
                  <a:pt x="0" y="381000"/>
                </a:lnTo>
                <a:cubicBezTo>
                  <a:pt x="0" y="279953"/>
                  <a:pt x="40141" y="183044"/>
                  <a:pt x="111592" y="111592"/>
                </a:cubicBezTo>
                <a:cubicBezTo>
                  <a:pt x="183043" y="40141"/>
                  <a:pt x="279953" y="0"/>
                  <a:pt x="381000" y="0"/>
                </a:cubicBezTo>
                <a:lnTo>
                  <a:pt x="15470263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5326147" y="2777920"/>
            <a:ext cx="8382496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Limiti dell’approccio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26147" y="3893368"/>
            <a:ext cx="7805037" cy="3061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generalizzazione è stata testata su un subset di seed, i risultati sono un punto di partenza non una prova definitiva.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risposte LLM lente e costose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LLM fatica su ambienti non deterministici come FrozenLake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DFE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>
            <a:off x="0" y="0"/>
            <a:ext cx="14878369" cy="1695553"/>
          </a:xfrm>
          <a:custGeom>
            <a:avLst/>
            <a:gdLst/>
            <a:ahLst/>
            <a:cxnLst/>
            <a:rect r="r" b="b" t="t" l="l"/>
            <a:pathLst>
              <a:path h="1695553" w="14878369">
                <a:moveTo>
                  <a:pt x="0" y="1695553"/>
                </a:moveTo>
                <a:lnTo>
                  <a:pt x="14497369" y="1695553"/>
                </a:lnTo>
                <a:cubicBezTo>
                  <a:pt x="14598417" y="1695553"/>
                  <a:pt x="14695326" y="1655412"/>
                  <a:pt x="14766778" y="1583961"/>
                </a:cubicBezTo>
                <a:cubicBezTo>
                  <a:pt x="14838229" y="1512510"/>
                  <a:pt x="14878369" y="1415601"/>
                  <a:pt x="14878369" y="1314553"/>
                </a:cubicBezTo>
                <a:lnTo>
                  <a:pt x="14878369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1028700" y="539115"/>
            <a:ext cx="9656935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Futuro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102407"/>
            <a:ext cx="1191190" cy="2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b="true" sz="1599" spc="95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241482" y="3088361"/>
            <a:ext cx="7531855" cy="963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7200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Aspetti esplorabili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241482" y="4311236"/>
            <a:ext cx="7805037" cy="2546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Fine tuning modello locale.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Valutazione di un numero elevato di stati da seed diversi per provare generalizzazione.</a:t>
            </a:r>
          </a:p>
          <a:p>
            <a:pPr algn="l" marL="551557" indent="-275779" lvl="1">
              <a:lnSpc>
                <a:spcPts val="4087"/>
              </a:lnSpc>
              <a:buFont typeface="Arial"/>
              <a:buChar char="•"/>
            </a:pPr>
            <a:r>
              <a:rPr lang="en-US" sz="2554" spc="102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generazione online di funzione di valore durante il training.</a:t>
            </a:r>
          </a:p>
        </p:txBody>
      </p:sp>
      <p:sp>
        <p:nvSpPr>
          <p:cNvPr name="Freeform 7" id="7"/>
          <p:cNvSpPr/>
          <p:nvPr/>
        </p:nvSpPr>
        <p:spPr>
          <a:xfrm>
            <a:off x="3051162" y="7903482"/>
            <a:ext cx="15470263" cy="2383518"/>
          </a:xfrm>
          <a:custGeom>
            <a:avLst/>
            <a:gdLst/>
            <a:ahLst/>
            <a:cxnLst/>
            <a:rect r="r" b="b" t="t" l="l"/>
            <a:pathLst>
              <a:path h="2383518" w="15470263">
                <a:moveTo>
                  <a:pt x="0" y="2383518"/>
                </a:moveTo>
                <a:lnTo>
                  <a:pt x="0" y="381000"/>
                </a:lnTo>
                <a:cubicBezTo>
                  <a:pt x="0" y="279953"/>
                  <a:pt x="40141" y="183044"/>
                  <a:pt x="111592" y="111592"/>
                </a:cubicBezTo>
                <a:cubicBezTo>
                  <a:pt x="183043" y="40141"/>
                  <a:pt x="279953" y="0"/>
                  <a:pt x="381000" y="0"/>
                </a:cubicBezTo>
                <a:lnTo>
                  <a:pt x="15470263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04950" y="3109225"/>
            <a:ext cx="14275588" cy="170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121217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Grazie per l’attenzione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04950" y="2377016"/>
            <a:ext cx="9656935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00"/>
              </a:lnSpc>
              <a:spcBef>
                <a:spcPct val="0"/>
              </a:spcBef>
            </a:pPr>
            <a:r>
              <a:rPr lang="en-US" sz="8000" i="true">
                <a:solidFill>
                  <a:srgbClr val="121217"/>
                </a:solidFill>
                <a:latin typeface="DM Serif Display Italics"/>
                <a:ea typeface="DM Serif Display Italics"/>
                <a:cs typeface="DM Serif Display Italics"/>
                <a:sym typeface="DM Serif Display Italics"/>
              </a:rPr>
              <a:t>Fine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890222" y="7954518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29 SETTEMBRE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90222" y="8417433"/>
            <a:ext cx="4358207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126">
                <a:solidFill>
                  <a:srgbClr val="121217"/>
                </a:solidFill>
                <a:latin typeface="Public Sans"/>
                <a:ea typeface="Public Sans"/>
                <a:cs typeface="Public Sans"/>
                <a:sym typeface="Public Sans"/>
              </a:rPr>
              <a:t>PIETRO FAZION</a:t>
            </a:r>
          </a:p>
        </p:txBody>
      </p:sp>
      <p:sp>
        <p:nvSpPr>
          <p:cNvPr name="Freeform 7" id="7"/>
          <p:cNvSpPr/>
          <p:nvPr/>
        </p:nvSpPr>
        <p:spPr>
          <a:xfrm>
            <a:off x="0" y="-647101"/>
            <a:ext cx="16248430" cy="7984622"/>
          </a:xfrm>
          <a:custGeom>
            <a:avLst/>
            <a:gdLst/>
            <a:ahLst/>
            <a:cxnLst/>
            <a:rect r="r" b="b" t="t" l="l"/>
            <a:pathLst>
              <a:path h="7984622" w="16248430">
                <a:moveTo>
                  <a:pt x="0" y="7984622"/>
                </a:moveTo>
                <a:lnTo>
                  <a:pt x="15613768" y="7984622"/>
                </a:lnTo>
                <a:cubicBezTo>
                  <a:pt x="15824189" y="7984622"/>
                  <a:pt x="15994768" y="7814043"/>
                  <a:pt x="15994768" y="7603622"/>
                </a:cubicBezTo>
                <a:lnTo>
                  <a:pt x="15994768" y="126831"/>
                </a:lnTo>
                <a:cubicBezTo>
                  <a:pt x="15994768" y="56784"/>
                  <a:pt x="16051552" y="0"/>
                  <a:pt x="16121599" y="0"/>
                </a:cubicBezTo>
                <a:lnTo>
                  <a:pt x="16248430" y="0"/>
                </a:lnTo>
              </a:path>
            </a:pathLst>
          </a:custGeom>
          <a:ln cap="flat" w="19050">
            <a:solidFill>
              <a:srgbClr val="12121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1504950" y="8026908"/>
            <a:ext cx="8031849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b="true" sz="2100" spc="126">
                <a:solidFill>
                  <a:srgbClr val="121217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REPOSITORY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04950" y="8489823"/>
            <a:ext cx="5625534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i="true" spc="126" u="sng">
                <a:solidFill>
                  <a:srgbClr val="121217"/>
                </a:solidFill>
                <a:latin typeface="Public Sans Italics"/>
                <a:ea typeface="Public Sans Italics"/>
                <a:cs typeface="Public Sans Italics"/>
                <a:sym typeface="Public Sans Italics"/>
                <a:hlinkClick r:id="rId3" tooltip="https://github.com/ttetrao/llm-guided-rl/"/>
              </a:rPr>
              <a:t>https://github.com/ttetrao/llm-guided-rl/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DAHWAMYg740</dc:identifier>
  <dcterms:modified xsi:type="dcterms:W3CDTF">2011-08-01T06:04:30Z</dcterms:modified>
  <cp:revision>1</cp:revision>
  <dc:title>Blue Modern Gradient Professional Business Pitch Deck Presentation</dc:title>
</cp:coreProperties>
</file>