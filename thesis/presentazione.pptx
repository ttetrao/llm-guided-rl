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DM Serif Display" charset="1" panose="00000000000000000000"/>
      <p:regular r:id="rId20"/>
    </p:embeddedFont>
    <p:embeddedFont>
      <p:font typeface="Public Sans Bold" charset="1" panose="00000000000000000000"/>
      <p:regular r:id="rId21"/>
    </p:embeddedFont>
    <p:embeddedFont>
      <p:font typeface="Public Sans" charset="1" panose="00000000000000000000"/>
      <p:regular r:id="rId22"/>
    </p:embeddedFont>
    <p:embeddedFont>
      <p:font typeface="DM Serif Display Italics" charset="1" panose="00000000000000000000"/>
      <p:regular r:id="rId23"/>
    </p:embeddedFont>
    <p:embeddedFont>
      <p:font typeface="Public Sans Italics" charset="1" panose="00000000000000000000"/>
      <p:regular r:id="rId24"/>
    </p:embeddedFont>
    <p:embeddedFont>
      <p:font typeface="Roboto Mono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https://github.com/ttetrao/llm-guided-rl/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https://github.com/ttetrao/llm-guided-rl/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04950" y="1737995"/>
            <a:ext cx="12887097" cy="459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10"/>
              </a:lnSpc>
              <a:spcBef>
                <a:spcPct val="0"/>
              </a:spcBef>
            </a:pPr>
            <a:r>
              <a:rPr lang="en-US" sz="6578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Util</a:t>
            </a:r>
            <a:r>
              <a:rPr lang="en-US" sz="6578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izzo di modelli linguistici di grandi dimensioni per migliorare il processo di apprendimento per rinforzo. ​</a:t>
            </a:r>
          </a:p>
        </p:txBody>
      </p:sp>
      <p:sp>
        <p:nvSpPr>
          <p:cNvPr name="Freeform 4" id="4"/>
          <p:cNvSpPr/>
          <p:nvPr/>
        </p:nvSpPr>
        <p:spPr>
          <a:xfrm>
            <a:off x="0" y="111737"/>
            <a:ext cx="16556309" cy="7225784"/>
          </a:xfrm>
          <a:custGeom>
            <a:avLst/>
            <a:gdLst/>
            <a:ahLst/>
            <a:cxnLst/>
            <a:rect r="r" b="b" t="t" l="l"/>
            <a:pathLst>
              <a:path h="7225784" w="16556309">
                <a:moveTo>
                  <a:pt x="0" y="7225784"/>
                </a:moveTo>
                <a:lnTo>
                  <a:pt x="16175309" y="7225784"/>
                </a:lnTo>
                <a:cubicBezTo>
                  <a:pt x="16385730" y="7225784"/>
                  <a:pt x="16556309" y="7055205"/>
                  <a:pt x="16556309" y="6844784"/>
                </a:cubicBezTo>
                <a:lnTo>
                  <a:pt x="1655630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1890222" y="7954518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29 SETTEMBRE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90222" y="8417433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26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PIETRO FAZION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1191895"/>
            <a:ext cx="9656935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i="true">
                <a:solidFill>
                  <a:srgbClr val="121217"/>
                </a:solidFill>
                <a:latin typeface="DM Serif Display Italics"/>
                <a:ea typeface="DM Serif Display Italics"/>
                <a:cs typeface="DM Serif Display Italics"/>
                <a:sym typeface="DM Serif Display Italics"/>
              </a:rPr>
              <a:t>Discussione di laurea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8026908"/>
            <a:ext cx="8031849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REPOSITORY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8489823"/>
            <a:ext cx="562553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i="true" spc="126" u="sng">
                <a:solidFill>
                  <a:srgbClr val="121217"/>
                </a:solidFill>
                <a:latin typeface="Public Sans Italics"/>
                <a:ea typeface="Public Sans Italics"/>
                <a:cs typeface="Public Sans Italics"/>
                <a:sym typeface="Public Sans Italics"/>
                <a:hlinkClick r:id="rId3" tooltip="https://github.com/ttetrao/llm-guided-rl/"/>
              </a:rPr>
              <a:t>https://github.com/ttetrao/llm-guided-rl/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4498300"/>
            <a:ext cx="9268617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Q-learning propaga il valore a ritroso dal goal.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se il goal si vede di rado, l’agente converge con fatica.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Idea: generare una funzione di valore utilizzando un LLM su alcuni stati significativi.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Introduzione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45213"/>
            <a:ext cx="6604677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Perché farlo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4358207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816765" y="2511863"/>
            <a:ext cx="5442535" cy="5442535"/>
          </a:xfrm>
          <a:custGeom>
            <a:avLst/>
            <a:gdLst/>
            <a:ahLst/>
            <a:cxnLst/>
            <a:rect r="r" b="b" t="t" l="l"/>
            <a:pathLst>
              <a:path h="5442535" w="5442535">
                <a:moveTo>
                  <a:pt x="0" y="0"/>
                </a:moveTo>
                <a:lnTo>
                  <a:pt x="5442535" y="0"/>
                </a:lnTo>
                <a:lnTo>
                  <a:pt x="5442535" y="5442534"/>
                </a:lnTo>
                <a:lnTo>
                  <a:pt x="0" y="5442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4304468"/>
            <a:ext cx="9268617" cy="4467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Reward 1 solo sul goal, 0 altrove.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Il goal è bloccato da una porta.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Ambiente completamente osservabile.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Stato grafo: (dx, dy, dir, has_key, door_open)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Ground truth per il confronto calcolata con value iteration.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seed usato per proof of concept 1337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Introduzione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645213"/>
            <a:ext cx="6604677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Ambiente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102407"/>
            <a:ext cx="4358207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Metodo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645213"/>
            <a:ext cx="13022184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Stati usati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848510"/>
            <a:ext cx="12472181" cy="3343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Per un singolo seed gli stati totali sono 480,</a:t>
            </a:r>
          </a:p>
          <a:p>
            <a:pPr algn="l">
              <a:lnSpc>
                <a:spcPts val="4479"/>
              </a:lnSpc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Di questi ne vengono estratti un sottoinsieme: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Bottleneck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stati in cui lo stage dell’agente cambia.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Checkpoint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stati estratti tra quelli visitati durante il training con q-learning in base a scaglioni di success rate.</a:t>
            </a:r>
          </a:p>
          <a:p>
            <a:pPr algn="l">
              <a:lnSpc>
                <a:spcPts val="447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Metodo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645213"/>
            <a:ext cx="1020296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Generazione Q-Function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734710"/>
            <a:ext cx="10837565" cy="3575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Generazione Q-via-V: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il modello llm valuta la mappa ascii dello stato corrente s generando il V-value dei successivi s’ = (s,a) seguendo le istruzioni del prompt, e definizioni delle funzioni di valore (</a:t>
            </a: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Sutton &amp; Barto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).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Output: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un JSON rappresentante la Q-function.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Verifica: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lo script scarta le risposte anomale o incoerenti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Modelli usati: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Gpt-oss 120b, Gemma4 26b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398208" y="3014126"/>
            <a:ext cx="4960323" cy="4568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K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</a:t>
            </a: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|A(R)|D(O)|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G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523393" y="3642713"/>
            <a:ext cx="6341572" cy="4150714"/>
          </a:xfrm>
          <a:custGeom>
            <a:avLst/>
            <a:gdLst/>
            <a:ahLst/>
            <a:cxnLst/>
            <a:rect r="r" b="b" t="t" l="l"/>
            <a:pathLst>
              <a:path h="4150714" w="6341572">
                <a:moveTo>
                  <a:pt x="0" y="0"/>
                </a:moveTo>
                <a:lnTo>
                  <a:pt x="6341572" y="0"/>
                </a:lnTo>
                <a:lnTo>
                  <a:pt x="6341572" y="4150715"/>
                </a:lnTo>
                <a:lnTo>
                  <a:pt x="0" y="41507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917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423035" y="3642713"/>
            <a:ext cx="10887119" cy="4150714"/>
          </a:xfrm>
          <a:custGeom>
            <a:avLst/>
            <a:gdLst/>
            <a:ahLst/>
            <a:cxnLst/>
            <a:rect r="r" b="b" t="t" l="l"/>
            <a:pathLst>
              <a:path h="4150714" w="10887119">
                <a:moveTo>
                  <a:pt x="0" y="0"/>
                </a:moveTo>
                <a:lnTo>
                  <a:pt x="10887120" y="0"/>
                </a:lnTo>
                <a:lnTo>
                  <a:pt x="10887120" y="4150715"/>
                </a:lnTo>
                <a:lnTo>
                  <a:pt x="0" y="41507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302105"/>
            <a:ext cx="8725393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valori stimati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7897778" y="3323305"/>
            <a:ext cx="9780044" cy="4935431"/>
          </a:xfrm>
          <a:custGeom>
            <a:avLst/>
            <a:gdLst/>
            <a:ahLst/>
            <a:cxnLst/>
            <a:rect r="r" b="b" t="t" l="l"/>
            <a:pathLst>
              <a:path h="4935431" w="9780044">
                <a:moveTo>
                  <a:pt x="0" y="0"/>
                </a:moveTo>
                <a:lnTo>
                  <a:pt x="9780045" y="0"/>
                </a:lnTo>
                <a:lnTo>
                  <a:pt x="9780045" y="4935431"/>
                </a:lnTo>
                <a:lnTo>
                  <a:pt x="0" y="49354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6574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302105"/>
            <a:ext cx="1020296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Accuratezza policy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218953"/>
            <a:ext cx="6462772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Top-1 tie-aware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conta come corretta qualsiasi azione a pari merito con l'ottimo.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Top-1 strict: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 conta come corretta solo la prima azione in ordine.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7796084" y="2945729"/>
            <a:ext cx="9182673" cy="5500915"/>
          </a:xfrm>
          <a:custGeom>
            <a:avLst/>
            <a:gdLst/>
            <a:ahLst/>
            <a:cxnLst/>
            <a:rect r="r" b="b" t="t" l="l"/>
            <a:pathLst>
              <a:path h="5500915" w="9182673">
                <a:moveTo>
                  <a:pt x="0" y="0"/>
                </a:moveTo>
                <a:lnTo>
                  <a:pt x="9182673" y="0"/>
                </a:lnTo>
                <a:lnTo>
                  <a:pt x="9182673" y="5500915"/>
                </a:lnTo>
                <a:lnTo>
                  <a:pt x="0" y="55009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356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45213"/>
            <a:ext cx="1020296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Inizializzazione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9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834315"/>
            <a:ext cx="6767384" cy="4014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La Q-Table viene inizializzata usando i valori generati dal LLM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α = 0.04, γ = 0.99, ε-decay = 0.99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solo bottleneck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confronto con un agente allenato con  iperparametri standard (α = 0.25, γ =  0.99, ε-decay 0.998)</a:t>
            </a:r>
          </a:p>
          <a:p>
            <a:pPr algn="l">
              <a:lnSpc>
                <a:spcPts val="4000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3010674" y="2162980"/>
            <a:ext cx="12266651" cy="7213112"/>
          </a:xfrm>
          <a:custGeom>
            <a:avLst/>
            <a:gdLst/>
            <a:ahLst/>
            <a:cxnLst/>
            <a:rect r="r" b="b" t="t" l="l"/>
            <a:pathLst>
              <a:path h="7213112" w="12266651">
                <a:moveTo>
                  <a:pt x="0" y="0"/>
                </a:moveTo>
                <a:lnTo>
                  <a:pt x="12266652" y="0"/>
                </a:lnTo>
                <a:lnTo>
                  <a:pt x="12266652" y="7213113"/>
                </a:lnTo>
                <a:lnTo>
                  <a:pt x="0" y="72131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38" r="0" b="-83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8833737" y="3987843"/>
            <a:ext cx="9003043" cy="5388249"/>
          </a:xfrm>
          <a:custGeom>
            <a:avLst/>
            <a:gdLst/>
            <a:ahLst/>
            <a:cxnLst/>
            <a:rect r="r" b="b" t="t" l="l"/>
            <a:pathLst>
              <a:path h="5388249" w="9003043">
                <a:moveTo>
                  <a:pt x="0" y="0"/>
                </a:moveTo>
                <a:lnTo>
                  <a:pt x="9003043" y="0"/>
                </a:lnTo>
                <a:lnTo>
                  <a:pt x="9003043" y="5388250"/>
                </a:lnTo>
                <a:lnTo>
                  <a:pt x="0" y="53882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00" t="0" r="-1000" b="-960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645213"/>
            <a:ext cx="1071897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 dell’approccio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760660"/>
            <a:ext cx="7805037" cy="3061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generalizzazione è stata testata su un subset di seed, i risultati sono un punto di partenza non una prova definitiva.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risposte LLM lente e costose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LLM fatica su ambienti non deterministici come FrozenLake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81727" y="3789723"/>
            <a:ext cx="5707063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</a:t>
            </a: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0.15, gamma 0.95, eps_decay 0.995 vs </a:t>
            </a: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 0.15, gamma 0.99, eps_decay 0.999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12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8158180" y="2961806"/>
            <a:ext cx="9634651" cy="4921974"/>
          </a:xfrm>
          <a:custGeom>
            <a:avLst/>
            <a:gdLst/>
            <a:ahLst/>
            <a:cxnLst/>
            <a:rect r="r" b="b" t="t" l="l"/>
            <a:pathLst>
              <a:path h="4921974" w="9634651">
                <a:moveTo>
                  <a:pt x="0" y="0"/>
                </a:moveTo>
                <a:lnTo>
                  <a:pt x="9634651" y="0"/>
                </a:lnTo>
                <a:lnTo>
                  <a:pt x="9634651" y="4921974"/>
                </a:lnTo>
                <a:lnTo>
                  <a:pt x="0" y="4921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5033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95169" y="2961806"/>
            <a:ext cx="7461321" cy="4921974"/>
          </a:xfrm>
          <a:custGeom>
            <a:avLst/>
            <a:gdLst/>
            <a:ahLst/>
            <a:cxnLst/>
            <a:rect r="r" b="b" t="t" l="l"/>
            <a:pathLst>
              <a:path h="4921974" w="7461321">
                <a:moveTo>
                  <a:pt x="0" y="0"/>
                </a:moveTo>
                <a:lnTo>
                  <a:pt x="7461321" y="0"/>
                </a:lnTo>
                <a:lnTo>
                  <a:pt x="7461321" y="4921974"/>
                </a:lnTo>
                <a:lnTo>
                  <a:pt x="0" y="4921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8241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246532" y="7836155"/>
            <a:ext cx="1709958" cy="429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1"/>
              </a:lnSpc>
              <a:spcBef>
                <a:spcPct val="0"/>
              </a:spcBef>
            </a:pPr>
            <a:r>
              <a:rPr lang="en-US" sz="2522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MAE = 0.338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795729" y="2150413"/>
            <a:ext cx="12082640" cy="3991764"/>
          </a:xfrm>
          <a:custGeom>
            <a:avLst/>
            <a:gdLst/>
            <a:ahLst/>
            <a:cxnLst/>
            <a:rect r="r" b="b" t="t" l="l"/>
            <a:pathLst>
              <a:path h="3991764" w="12082640">
                <a:moveTo>
                  <a:pt x="0" y="0"/>
                </a:moveTo>
                <a:lnTo>
                  <a:pt x="12082640" y="0"/>
                </a:lnTo>
                <a:lnTo>
                  <a:pt x="12082640" y="3991764"/>
                </a:lnTo>
                <a:lnTo>
                  <a:pt x="0" y="39917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9466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795729" y="6381897"/>
            <a:ext cx="12082640" cy="3432621"/>
          </a:xfrm>
          <a:custGeom>
            <a:avLst/>
            <a:gdLst/>
            <a:ahLst/>
            <a:cxnLst/>
            <a:rect r="r" b="b" t="t" l="l"/>
            <a:pathLst>
              <a:path h="3432621" w="12082640">
                <a:moveTo>
                  <a:pt x="0" y="0"/>
                </a:moveTo>
                <a:lnTo>
                  <a:pt x="12082640" y="0"/>
                </a:lnTo>
                <a:lnTo>
                  <a:pt x="12082640" y="3432621"/>
                </a:lnTo>
                <a:lnTo>
                  <a:pt x="0" y="3432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5244" r="0" b="-111132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362303" y="1952293"/>
            <a:ext cx="5563394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</a:t>
            </a: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0.05, gamma 0.99, eps_decay 0.99 vs </a:t>
            </a:r>
            <a:r>
              <a:rPr lang="en-US" sz="1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 0.1, gamma 0.99, eps_decay 0.998 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Futuro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241482" y="3088361"/>
            <a:ext cx="7531855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Aspetti esplorabili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241482" y="4311236"/>
            <a:ext cx="7805037" cy="254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Fine tuning modello locale.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Valutazione di un numero elevato di stati da seed diversi per provare generalizzazione.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generazione online di funzione di valore durante il training.</a:t>
            </a:r>
          </a:p>
        </p:txBody>
      </p:sp>
      <p:sp>
        <p:nvSpPr>
          <p:cNvPr name="Freeform 7" id="7"/>
          <p:cNvSpPr/>
          <p:nvPr/>
        </p:nvSpPr>
        <p:spPr>
          <a:xfrm>
            <a:off x="3051162" y="7903482"/>
            <a:ext cx="15470263" cy="2383518"/>
          </a:xfrm>
          <a:custGeom>
            <a:avLst/>
            <a:gdLst/>
            <a:ahLst/>
            <a:cxnLst/>
            <a:rect r="r" b="b" t="t" l="l"/>
            <a:pathLst>
              <a:path h="2383518" w="15470263">
                <a:moveTo>
                  <a:pt x="0" y="2383518"/>
                </a:moveTo>
                <a:lnTo>
                  <a:pt x="0" y="381000"/>
                </a:lnTo>
                <a:cubicBezTo>
                  <a:pt x="0" y="279953"/>
                  <a:pt x="40141" y="183044"/>
                  <a:pt x="111592" y="111592"/>
                </a:cubicBezTo>
                <a:cubicBezTo>
                  <a:pt x="183043" y="40141"/>
                  <a:pt x="279953" y="0"/>
                  <a:pt x="381000" y="0"/>
                </a:cubicBezTo>
                <a:lnTo>
                  <a:pt x="15470263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04950" y="3109225"/>
            <a:ext cx="14275588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Grazie per l’attenzione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04950" y="2377016"/>
            <a:ext cx="965693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i="true">
                <a:solidFill>
                  <a:srgbClr val="121217"/>
                </a:solidFill>
                <a:latin typeface="DM Serif Display Italics"/>
                <a:ea typeface="DM Serif Display Italics"/>
                <a:cs typeface="DM Serif Display Italics"/>
                <a:sym typeface="DM Serif Display Italics"/>
              </a:rPr>
              <a:t>Fine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890222" y="7954518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29 SETTEMBRE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90222" y="8417433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26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PIETRO FAZION</a:t>
            </a:r>
          </a:p>
        </p:txBody>
      </p:sp>
      <p:sp>
        <p:nvSpPr>
          <p:cNvPr name="Freeform 7" id="7"/>
          <p:cNvSpPr/>
          <p:nvPr/>
        </p:nvSpPr>
        <p:spPr>
          <a:xfrm>
            <a:off x="0" y="-647101"/>
            <a:ext cx="16248430" cy="7984622"/>
          </a:xfrm>
          <a:custGeom>
            <a:avLst/>
            <a:gdLst/>
            <a:ahLst/>
            <a:cxnLst/>
            <a:rect r="r" b="b" t="t" l="l"/>
            <a:pathLst>
              <a:path h="7984622" w="16248430">
                <a:moveTo>
                  <a:pt x="0" y="7984622"/>
                </a:moveTo>
                <a:lnTo>
                  <a:pt x="15613768" y="7984622"/>
                </a:lnTo>
                <a:cubicBezTo>
                  <a:pt x="15824189" y="7984622"/>
                  <a:pt x="15994768" y="7814043"/>
                  <a:pt x="15994768" y="7603622"/>
                </a:cubicBezTo>
                <a:lnTo>
                  <a:pt x="15994768" y="126831"/>
                </a:lnTo>
                <a:cubicBezTo>
                  <a:pt x="15994768" y="56784"/>
                  <a:pt x="16051552" y="0"/>
                  <a:pt x="16121599" y="0"/>
                </a:cubicBezTo>
                <a:lnTo>
                  <a:pt x="16248430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504950" y="8026908"/>
            <a:ext cx="8031849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REPOSITORY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8489823"/>
            <a:ext cx="562553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i="true" spc="126" u="sng">
                <a:solidFill>
                  <a:srgbClr val="121217"/>
                </a:solidFill>
                <a:latin typeface="Public Sans Italics"/>
                <a:ea typeface="Public Sans Italics"/>
                <a:cs typeface="Public Sans Italics"/>
                <a:sym typeface="Public Sans Italics"/>
                <a:hlinkClick r:id="rId3" tooltip="https://github.com/ttetrao/llm-guided-rl/"/>
              </a:rPr>
              <a:t>https://github.com/ttetrao/llm-guided-rl/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DAHWAMYg740</dc:identifier>
  <dcterms:modified xsi:type="dcterms:W3CDTF">2011-08-01T06:04:30Z</dcterms:modified>
  <cp:revision>1</cp:revision>
  <dc:title>Blue Modern Gradient Professional Business Pitch Deck Presentation</dc:title>
</cp:coreProperties>
</file>