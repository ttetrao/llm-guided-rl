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DM Serif Display" charset="1" panose="00000000000000000000"/>
      <p:regular r:id="rId26"/>
    </p:embeddedFont>
    <p:embeddedFont>
      <p:font typeface="Public Sans Bold" charset="1" panose="00000000000000000000"/>
      <p:regular r:id="rId27"/>
    </p:embeddedFont>
    <p:embeddedFont>
      <p:font typeface="Public Sans" charset="1" panose="00000000000000000000"/>
      <p:regular r:id="rId28"/>
    </p:embeddedFont>
    <p:embeddedFont>
      <p:font typeface="DM Serif Display Italics" charset="1" panose="00000000000000000000"/>
      <p:regular r:id="rId29"/>
    </p:embeddedFont>
    <p:embeddedFont>
      <p:font typeface="Public Sans Italics" charset="1" panose="00000000000000000000"/>
      <p:regular r:id="rId30"/>
    </p:embeddedFont>
    <p:embeddedFont>
      <p:font typeface="Roboto Mono" charset="1" panose="00000000000000000000"/>
      <p:regular r:id="rId31"/>
    </p:embeddedFont>
    <p:embeddedFont>
      <p:font typeface="Roboto Mono Bold" charset="1" panose="00000000000000000000"/>
      <p:regular r:id="rId32"/>
    </p:embeddedFont>
    <p:embeddedFont>
      <p:font typeface="Open Sans Bold" charset="1" panose="020B0806030504020204"/>
      <p:regular r:id="rId33"/>
    </p:embeddedFont>
    <p:embeddedFont>
      <p:font typeface="Open Sans" charset="1" panose="020B0606030504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ttetrao/llm-guided-rl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ttetrao/llm-guided-rl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1737995"/>
            <a:ext cx="12887097" cy="459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0"/>
              </a:lnSpc>
              <a:spcBef>
                <a:spcPct val="0"/>
              </a:spcBef>
            </a:pPr>
            <a:r>
              <a:rPr lang="en-US" sz="6578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Util</a:t>
            </a:r>
            <a:r>
              <a:rPr lang="en-US" sz="6578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izzo di modelli linguistici di grandi dimensioni per migliorare il processo di apprendimento per rinforzo. ​</a:t>
            </a:r>
          </a:p>
        </p:txBody>
      </p:sp>
      <p:sp>
        <p:nvSpPr>
          <p:cNvPr name="Freeform 4" id="4"/>
          <p:cNvSpPr/>
          <p:nvPr/>
        </p:nvSpPr>
        <p:spPr>
          <a:xfrm>
            <a:off x="0" y="111737"/>
            <a:ext cx="16556309" cy="7225784"/>
          </a:xfrm>
          <a:custGeom>
            <a:avLst/>
            <a:gdLst/>
            <a:ahLst/>
            <a:cxnLst/>
            <a:rect r="r" b="b" t="t" l="l"/>
            <a:pathLst>
              <a:path h="7225784" w="16556309">
                <a:moveTo>
                  <a:pt x="0" y="7225784"/>
                </a:moveTo>
                <a:lnTo>
                  <a:pt x="16175309" y="7225784"/>
                </a:lnTo>
                <a:cubicBezTo>
                  <a:pt x="16385730" y="7225784"/>
                  <a:pt x="16556309" y="7055205"/>
                  <a:pt x="16556309" y="6844784"/>
                </a:cubicBezTo>
                <a:lnTo>
                  <a:pt x="1655630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890222" y="7954518"/>
            <a:ext cx="43582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12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29 SETTEMBRE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90222" y="8417433"/>
            <a:ext cx="43582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12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PIETRO FAZION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4950" y="1191895"/>
            <a:ext cx="96569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i="true">
                <a:solidFill>
                  <a:srgbClr val="121217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Discussione di laurea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4950" y="8026908"/>
            <a:ext cx="80318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12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4950" y="8489823"/>
            <a:ext cx="562553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 spc="126" u="sng">
                <a:solidFill>
                  <a:srgbClr val="121217"/>
                </a:solidFill>
                <a:latin typeface="Public Sans Italics"/>
                <a:ea typeface="Public Sans Italics"/>
                <a:cs typeface="Public Sans Italics"/>
                <a:sym typeface="Public Sans Italics"/>
                <a:hlinkClick r:id="rId3" tooltip="https://github.com/ttetrao/llm-guided-rl/"/>
              </a:rPr>
              <a:t>https://github.com/ttetrao/llm-guided-rl/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747929"/>
            <a:ext cx="9268617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Q-learning propaga il valore a ritroso dal goal.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Se il goal si vede di rado, l’agente converge con fatica.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Idea: generare una funzione di valore utilizzando un LLM su alcuni stati significativi.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Introduzione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45213"/>
            <a:ext cx="6604677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Perché farlo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435820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843884" y="4168577"/>
            <a:ext cx="9218995" cy="3550172"/>
          </a:xfrm>
          <a:custGeom>
            <a:avLst/>
            <a:gdLst/>
            <a:ahLst/>
            <a:cxnLst/>
            <a:rect r="r" b="b" t="t" l="l"/>
            <a:pathLst>
              <a:path h="3550172" w="9218995">
                <a:moveTo>
                  <a:pt x="0" y="0"/>
                </a:moveTo>
                <a:lnTo>
                  <a:pt x="9218995" y="0"/>
                </a:lnTo>
                <a:lnTo>
                  <a:pt x="9218995" y="3550172"/>
                </a:lnTo>
                <a:lnTo>
                  <a:pt x="0" y="3550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87592"/>
            <a:ext cx="8337100" cy="524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083" indent="-233042" lvl="1">
              <a:lnSpc>
                <a:spcPts val="3454"/>
              </a:lnSpc>
              <a:buFont typeface="Arial"/>
              <a:buChar char="•"/>
            </a:pP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L’agente mappa stati in azioni per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massimizzare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il segnale numerico di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reward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66083" indent="-233042" lvl="1">
              <a:lnSpc>
                <a:spcPts val="3454"/>
              </a:lnSpc>
              <a:buFont typeface="Arial"/>
              <a:buChar char="•"/>
            </a:pP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Un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MDP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è una tupla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⟨S,A,T,R,γ⟩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932167" indent="-310722" lvl="2">
              <a:lnSpc>
                <a:spcPts val="3454"/>
              </a:lnSpc>
              <a:buFont typeface="Arial"/>
              <a:buChar char="⚬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stati.</a:t>
            </a:r>
          </a:p>
          <a:p>
            <a:pPr algn="l" marL="932167" indent="-310722" lvl="2">
              <a:lnSpc>
                <a:spcPts val="3454"/>
              </a:lnSpc>
              <a:buFont typeface="Arial"/>
              <a:buChar char="⚬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azioni.</a:t>
            </a:r>
          </a:p>
          <a:p>
            <a:pPr algn="l" marL="932167" indent="-310722" lvl="2">
              <a:lnSpc>
                <a:spcPts val="3454"/>
              </a:lnSpc>
              <a:buFont typeface="Arial"/>
              <a:buChar char="⚬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T(s′∣s,a):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probabilità di transizione.</a:t>
            </a:r>
          </a:p>
          <a:p>
            <a:pPr algn="l" marL="932167" indent="-310722" lvl="2">
              <a:lnSpc>
                <a:spcPts val="3454"/>
              </a:lnSpc>
              <a:buFont typeface="Arial"/>
              <a:buChar char="⚬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R(s,a,s′):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reward.</a:t>
            </a:r>
          </a:p>
          <a:p>
            <a:pPr algn="l" marL="932167" indent="-310722" lvl="2">
              <a:lnSpc>
                <a:spcPts val="3454"/>
              </a:lnSpc>
              <a:buFont typeface="Arial"/>
              <a:buChar char="⚬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γ: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fattore di sconto.</a:t>
            </a:r>
          </a:p>
          <a:p>
            <a:pPr algn="l" marL="466083" indent="-233042" lvl="1">
              <a:lnSpc>
                <a:spcPts val="3454"/>
              </a:lnSpc>
              <a:buFont typeface="Arial"/>
              <a:buChar char="•"/>
            </a:pP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La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transizione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ad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s′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e la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reward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dipendono unicamente dallo stato e dall'azione correnti.</a:t>
            </a:r>
          </a:p>
          <a:p>
            <a:pPr algn="l" marL="466083" indent="-233042" lvl="1">
              <a:lnSpc>
                <a:spcPts val="3454"/>
              </a:lnSpc>
              <a:buFont typeface="Arial"/>
              <a:buChar char="•"/>
            </a:pP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Obiettivo: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trovare una policy </a:t>
            </a:r>
            <a:r>
              <a:rPr lang="en-US" b="true" sz="2158" spc="8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π(a∣s) </a:t>
            </a:r>
            <a:r>
              <a:rPr lang="en-US" sz="2158" spc="8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che massimizzi il ritorno atteso.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Introduzione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16638"/>
            <a:ext cx="9730325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Reinforcement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102407"/>
            <a:ext cx="435820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16765" y="2511863"/>
            <a:ext cx="5442535" cy="5442535"/>
          </a:xfrm>
          <a:custGeom>
            <a:avLst/>
            <a:gdLst/>
            <a:ahLst/>
            <a:cxnLst/>
            <a:rect r="r" b="b" t="t" l="l"/>
            <a:pathLst>
              <a:path h="5442535" w="5442535">
                <a:moveTo>
                  <a:pt x="0" y="0"/>
                </a:moveTo>
                <a:lnTo>
                  <a:pt x="5442535" y="0"/>
                </a:lnTo>
                <a:lnTo>
                  <a:pt x="5442535" y="5442534"/>
                </a:lnTo>
                <a:lnTo>
                  <a:pt x="0" y="5442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756404"/>
            <a:ext cx="10110380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Stato (S):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(dx, dy, dir, has_key, door_open).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Azioni (A):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left, right, forward, pickup, toggle.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Modello di transizione (T):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deterministico. 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</a:t>
            </a: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eward (R)</a:t>
            </a: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1 solo sul goal, 0 altrove.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Ambiente gerarchico: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il task si puo scomporre in fasi distinte.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Ground truth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per il confronto calcolata con </a:t>
            </a: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value iteration.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Introduzione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45213"/>
            <a:ext cx="6604677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DoorKey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102407"/>
            <a:ext cx="435820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45213"/>
            <a:ext cx="13022184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Stati usati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48510"/>
            <a:ext cx="11290997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Per un singolo seed gli stati totali sono 480,</a:t>
            </a:r>
          </a:p>
          <a:p>
            <a:pPr algn="l">
              <a:lnSpc>
                <a:spcPts val="4479"/>
              </a:lnSpc>
            </a:pP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Di questi ne vengono estratti un sottoinsieme: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Bottleneck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: stati in cui lo stage dell’agente cambia.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Checkpoint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: stati estratti tra quelli visitati durante il training con q-learning in base a scaglioni di success rate.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45213"/>
            <a:ext cx="1020296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Generazione Q-Function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34710"/>
            <a:ext cx="10837565" cy="408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Per ogni stato ho raccolto le </a:t>
            </a: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osservazioni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dell’ambiente e le ho trasformate in una </a:t>
            </a: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mappa ASCII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Generazione “Q-via-V”: 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il modello LLM valuta la mappa ascii dello stato corrente s generando il V-value dei successivi s’ = (s,a) seguendo le istruzioni del </a:t>
            </a: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prompt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, e definizioni delle funzioni di valore (</a:t>
            </a: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Sutton &amp; Barto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).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Verifica: 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lo script scarta le risposte anomale o incoerenti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b="true" sz="2554" spc="102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Modelli usati: </a:t>
            </a: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GPT-OSS 120B, Gemma4 26b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98208" y="3014126"/>
            <a:ext cx="4960323" cy="456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    |    |    | ▇  |    |  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    | K  |    | ▇  |    |  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    |    |    | ▇  |    |  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</a:t>
            </a: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    |    |    | ▇  |    |  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    |    |A(R)|D(O)|    |  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|    |    |    | ▇  |    | G  |</a:t>
            </a:r>
          </a:p>
          <a:p>
            <a:pPr algn="ctr">
              <a:lnSpc>
                <a:spcPts val="2793"/>
              </a:lnSpc>
            </a:pPr>
            <a:r>
              <a:rPr lang="en-US" sz="1995">
                <a:solidFill>
                  <a:srgbClr val="121217"/>
                </a:solidFill>
                <a:latin typeface="Roboto Mono"/>
                <a:ea typeface="Roboto Mono"/>
                <a:cs typeface="Roboto Mono"/>
                <a:sym typeface="Roboto Mono"/>
              </a:rPr>
              <a:t>+----+----+----+----+----+----+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45213"/>
            <a:ext cx="1020296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Prompt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88290"/>
            <a:ext cx="9656935" cy="470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Formato prompt: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pseudo-XML.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 blocchi statici iniettati dallo script: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&lt;documentation&gt; (MiniGrid), &lt;legend&gt; (simboli ASCII), &lt;v-definition&gt;, &lt;q-definition&gt; 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7 mappe ASCII iniettate per stato: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&lt;current_state&gt; che rappresenta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<![CDATA[, più <left> <right> <forward> <pickup> <drop> <toggle> rappresentanti ]]>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s' = T(s,a)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Puntualizzazioni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sull’ambiente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istruzioni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generali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Sezioni di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Analisi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Analisi Preliminare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per forzare una 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chain-of-thougth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Compito: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per ogni azione stimare il valore della v-function ottima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  <a:p>
            <a:pPr algn="l" marL="461713" indent="-230856" lvl="1">
              <a:lnSpc>
                <a:spcPts val="3421"/>
              </a:lnSpc>
              <a:buFont typeface="Arial"/>
              <a:buChar char="•"/>
            </a:pP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Output richiesto: </a:t>
            </a:r>
            <a:r>
              <a:rPr lang="en-US" sz="2138" spc="85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JSON corretto</a:t>
            </a:r>
            <a:r>
              <a:rPr lang="en-US" b="true" sz="2138" spc="8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62171" y="2457363"/>
            <a:ext cx="5842078" cy="668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{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"code": string,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"preliminary-analysis": string,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"q-function-values": {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"left": {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"analysis": string,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"value": float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},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"right": {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"analysis": string,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"value": float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},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...,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"toggle": {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"analysis": string,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"value": float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}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}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12121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55344" y="3222220"/>
            <a:ext cx="15177311" cy="5402245"/>
          </a:xfrm>
          <a:custGeom>
            <a:avLst/>
            <a:gdLst/>
            <a:ahLst/>
            <a:cxnLst/>
            <a:rect r="r" b="b" t="t" l="l"/>
            <a:pathLst>
              <a:path h="5402245" w="15177311">
                <a:moveTo>
                  <a:pt x="0" y="0"/>
                </a:moveTo>
                <a:lnTo>
                  <a:pt x="15177312" y="0"/>
                </a:lnTo>
                <a:lnTo>
                  <a:pt x="15177312" y="5402244"/>
                </a:lnTo>
                <a:lnTo>
                  <a:pt x="0" y="540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1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36920" y="2730730"/>
            <a:ext cx="921416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Errore per bucket - gpt-oss:120b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06952" y="2832349"/>
            <a:ext cx="11674096" cy="6677851"/>
          </a:xfrm>
          <a:custGeom>
            <a:avLst/>
            <a:gdLst/>
            <a:ahLst/>
            <a:cxnLst/>
            <a:rect r="r" b="b" t="t" l="l"/>
            <a:pathLst>
              <a:path h="6677851" w="11674096">
                <a:moveTo>
                  <a:pt x="0" y="0"/>
                </a:moveTo>
                <a:lnTo>
                  <a:pt x="11674096" y="0"/>
                </a:lnTo>
                <a:lnTo>
                  <a:pt x="11674096" y="6677851"/>
                </a:lnTo>
                <a:lnTo>
                  <a:pt x="0" y="6677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12" r="0" b="-2904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36920" y="2340859"/>
            <a:ext cx="921416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Correlazione lineare - gpt-oss:120b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618798" y="3102205"/>
            <a:ext cx="10511077" cy="4738852"/>
          </a:xfrm>
          <a:custGeom>
            <a:avLst/>
            <a:gdLst/>
            <a:ahLst/>
            <a:cxnLst/>
            <a:rect r="r" b="b" t="t" l="l"/>
            <a:pathLst>
              <a:path h="4738852" w="10511077">
                <a:moveTo>
                  <a:pt x="0" y="0"/>
                </a:moveTo>
                <a:lnTo>
                  <a:pt x="10511077" y="0"/>
                </a:lnTo>
                <a:lnTo>
                  <a:pt x="10511077" y="4738852"/>
                </a:lnTo>
                <a:lnTo>
                  <a:pt x="0" y="473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08" r="0" b="-328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02105"/>
            <a:ext cx="10202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Accuratezza policy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8953"/>
            <a:ext cx="6462772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Top-1 tie-aware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: conta come corretta qualsiasi azione a pari merito con l'ottimo.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 spc="11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Top-1 strict:</a:t>
            </a:r>
            <a:r>
              <a:rPr lang="en-US" sz="2799" spc="11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conta come corretta solo la prima azione in ordine.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80094" y="2430865"/>
            <a:ext cx="4388485" cy="6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Accuratezza azione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DoorKey 8x8 seed singolo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796084" y="3391227"/>
            <a:ext cx="9965640" cy="5524456"/>
          </a:xfrm>
          <a:custGeom>
            <a:avLst/>
            <a:gdLst/>
            <a:ahLst/>
            <a:cxnLst/>
            <a:rect r="r" b="b" t="t" l="l"/>
            <a:pathLst>
              <a:path h="5524456" w="9965640">
                <a:moveTo>
                  <a:pt x="0" y="0"/>
                </a:moveTo>
                <a:lnTo>
                  <a:pt x="9965640" y="0"/>
                </a:lnTo>
                <a:lnTo>
                  <a:pt x="9965640" y="5524456"/>
                </a:lnTo>
                <a:lnTo>
                  <a:pt x="0" y="552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64" r="0" b="-795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45213"/>
            <a:ext cx="1020296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Inizializzazione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4315"/>
            <a:ext cx="6767384" cy="402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66" indent="-269883" lvl="1">
              <a:lnSpc>
                <a:spcPts val="4000"/>
              </a:lnSpc>
              <a:buFont typeface="Arial"/>
              <a:buChar char="•"/>
            </a:pPr>
            <a:r>
              <a:rPr lang="en-US" b="true" sz="2500" spc="100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Stati usati: </a:t>
            </a:r>
            <a:r>
              <a:rPr lang="en-US" sz="2500" spc="100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solo bottleneck</a:t>
            </a:r>
          </a:p>
          <a:p>
            <a:pPr algn="l" marL="539766" indent="-269883" lvl="1">
              <a:lnSpc>
                <a:spcPts val="4000"/>
              </a:lnSpc>
              <a:buFont typeface="Arial"/>
              <a:buChar char="•"/>
            </a:pPr>
            <a:r>
              <a:rPr lang="en-US" sz="2500" spc="100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La Q-Table viene inizializzata usando i valori generati dall’LLM.</a:t>
            </a:r>
          </a:p>
          <a:p>
            <a:pPr algn="l" marL="539766" indent="-269883" lvl="1">
              <a:lnSpc>
                <a:spcPts val="4000"/>
              </a:lnSpc>
              <a:buFont typeface="Arial"/>
              <a:buChar char="•"/>
            </a:pPr>
            <a:r>
              <a:rPr lang="en-US" sz="2500" spc="100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α = 0.04, γ = 0.99, ε-decay = 0.99.</a:t>
            </a:r>
          </a:p>
          <a:p>
            <a:pPr algn="l" marL="539766" indent="-269883" lvl="1">
              <a:lnSpc>
                <a:spcPts val="4000"/>
              </a:lnSpc>
              <a:buFont typeface="Arial"/>
              <a:buChar char="•"/>
            </a:pPr>
            <a:r>
              <a:rPr lang="en-US" sz="2500" spc="100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Confronto con un agente allenato con  iperparametri standard (α = 0.25, γ =  0.99, ε-decay 0.998).</a:t>
            </a: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025105" y="2719888"/>
            <a:ext cx="3507598" cy="6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DoorKey 8x8 -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seed singolo - Init vs Std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010674" y="2768734"/>
            <a:ext cx="12266651" cy="6607358"/>
          </a:xfrm>
          <a:custGeom>
            <a:avLst/>
            <a:gdLst/>
            <a:ahLst/>
            <a:cxnLst/>
            <a:rect r="r" b="b" t="t" l="l"/>
            <a:pathLst>
              <a:path h="6607358" w="12266651">
                <a:moveTo>
                  <a:pt x="0" y="0"/>
                </a:moveTo>
                <a:lnTo>
                  <a:pt x="12266652" y="0"/>
                </a:lnTo>
                <a:lnTo>
                  <a:pt x="12266652" y="6607359"/>
                </a:lnTo>
                <a:lnTo>
                  <a:pt x="0" y="6607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01" r="0" b="-90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90201" y="2097395"/>
            <a:ext cx="3507598" cy="6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DoorKey 8x8 -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seed singolo - Init vs no-Init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208803" y="2865488"/>
            <a:ext cx="11645469" cy="6407234"/>
          </a:xfrm>
          <a:custGeom>
            <a:avLst/>
            <a:gdLst/>
            <a:ahLst/>
            <a:cxnLst/>
            <a:rect r="r" b="b" t="t" l="l"/>
            <a:pathLst>
              <a:path h="6407234" w="11645469">
                <a:moveTo>
                  <a:pt x="0" y="0"/>
                </a:moveTo>
                <a:lnTo>
                  <a:pt x="11645470" y="0"/>
                </a:lnTo>
                <a:lnTo>
                  <a:pt x="11645470" y="6407235"/>
                </a:lnTo>
                <a:lnTo>
                  <a:pt x="0" y="6407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" t="-9004" r="-1000" b="-1022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83830"/>
            <a:ext cx="4775016" cy="59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4547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Esempio su 5 seed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75962"/>
            <a:ext cx="4828467" cy="490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Non è una prova dell’efficacia sulla </a:t>
            </a:r>
            <a:r>
              <a:rPr lang="en-US" sz="2211" spc="88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generalizzazione </a:t>
            </a: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ma è un punto di partenza.</a:t>
            </a:r>
          </a:p>
          <a:p>
            <a:pPr algn="l">
              <a:lnSpc>
                <a:spcPts val="3537"/>
              </a:lnSpc>
            </a:pPr>
          </a:p>
          <a:p>
            <a:pPr algn="l">
              <a:lnSpc>
                <a:spcPts val="3537"/>
              </a:lnSpc>
            </a:pPr>
            <a:r>
              <a:rPr lang="en-US" sz="2211" spc="88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Iperparametri usati:</a:t>
            </a:r>
          </a:p>
          <a:p>
            <a:pPr algn="l" marL="477386" indent="-238693" lvl="1">
              <a:lnSpc>
                <a:spcPts val="3537"/>
              </a:lnSpc>
              <a:buFont typeface="Arial"/>
              <a:buChar char="•"/>
            </a:pP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α = 0.15, γ = 0.99, ε-decay = 0.995.</a:t>
            </a:r>
          </a:p>
          <a:p>
            <a:pPr algn="l" marL="477386" indent="-238693" lvl="1">
              <a:lnSpc>
                <a:spcPts val="3537"/>
              </a:lnSpc>
              <a:buFont typeface="Arial"/>
              <a:buChar char="•"/>
            </a:pP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onfronto con un agente allenato con iperparametri standard (α = 0.15, γ = 0.99, ε-decay 0.999)</a:t>
            </a:r>
            <a:r>
              <a:rPr lang="en-US" b="true" sz="2211" spc="88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76954" y="2194149"/>
            <a:ext cx="3509169" cy="66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DoorKey 8x8 -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Init vs Std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73105"/>
            <a:ext cx="10718976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FrozenLake (Slippery)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17080"/>
            <a:ext cx="7153065" cy="546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Stato (S): 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intero s = r*ncol + c (r = riga, ncol = numero di colonne mappa, c = colonna).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Azioni (A):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left, down, right, up.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Modello di transizione (T): T 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è stocastico (non deterministico), l’azione selezionata viene eseguita con probabilità di </a:t>
            </a: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1/3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Reward (R): 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1 sul goal, 0 altrove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Causa probabile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: incapacità di "immaginare" gli stati successivi, modello troppo poco intelligente.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MAE: 0.17</a:t>
            </a:r>
            <a:r>
              <a:rPr lang="en-US" sz="2284" spc="91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93322" indent="-246661" lvl="1">
              <a:lnSpc>
                <a:spcPts val="3655"/>
              </a:lnSpc>
              <a:buFont typeface="Arial"/>
              <a:buChar char="•"/>
            </a:pPr>
            <a:r>
              <a:rPr lang="en-US" b="true" sz="2284" spc="91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RMSE: 0.203.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49075" y="2810806"/>
            <a:ext cx="4386222" cy="6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Accuratezza azione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Frozenlake 8x8 seed singolo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81323" y="3482146"/>
            <a:ext cx="9521725" cy="4230803"/>
          </a:xfrm>
          <a:custGeom>
            <a:avLst/>
            <a:gdLst/>
            <a:ahLst/>
            <a:cxnLst/>
            <a:rect r="r" b="b" t="t" l="l"/>
            <a:pathLst>
              <a:path h="4230803" w="9521725">
                <a:moveTo>
                  <a:pt x="0" y="0"/>
                </a:moveTo>
                <a:lnTo>
                  <a:pt x="9521726" y="0"/>
                </a:lnTo>
                <a:lnTo>
                  <a:pt x="9521726" y="4230802"/>
                </a:lnTo>
                <a:lnTo>
                  <a:pt x="0" y="423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03" r="0" b="-33351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769316" y="3594720"/>
            <a:ext cx="7458433" cy="5545788"/>
          </a:xfrm>
          <a:custGeom>
            <a:avLst/>
            <a:gdLst/>
            <a:ahLst/>
            <a:cxnLst/>
            <a:rect r="r" b="b" t="t" l="l"/>
            <a:pathLst>
              <a:path h="5545788" w="7458433">
                <a:moveTo>
                  <a:pt x="0" y="0"/>
                </a:moveTo>
                <a:lnTo>
                  <a:pt x="7458434" y="0"/>
                </a:lnTo>
                <a:lnTo>
                  <a:pt x="7458434" y="5545787"/>
                </a:lnTo>
                <a:lnTo>
                  <a:pt x="0" y="5545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0" t="-16010" r="0" b="-80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083" y="3707418"/>
            <a:ext cx="7268777" cy="566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185" spc="87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Stati valutati: 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19/53 validi (esclusi hole), cioè 76 coppie (s,a).</a:t>
            </a:r>
          </a:p>
          <a:p>
            <a:pPr algn="l">
              <a:lnSpc>
                <a:spcPts val="3496"/>
              </a:lnSpc>
            </a:pPr>
          </a:p>
          <a:p>
            <a:pPr algn="l">
              <a:lnSpc>
                <a:spcPts val="3496"/>
              </a:lnSpc>
            </a:pPr>
            <a:r>
              <a:rPr lang="en-US" sz="2185" spc="87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Regret medio: 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quanto valore viene perso scegliendo l'azione che il modello ha valutato migliore invece di quella ottima (value iteration).</a:t>
            </a:r>
          </a:p>
          <a:p>
            <a:pPr algn="l" marL="471812" indent="-235906" lvl="1">
              <a:lnSpc>
                <a:spcPts val="3496"/>
              </a:lnSpc>
              <a:buFont typeface="Arial"/>
              <a:buChar char="•"/>
            </a:pP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</a:t>
            </a: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egret medio: 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0.0114 (0.0043 escluso il caso peggiore).</a:t>
            </a:r>
          </a:p>
          <a:p>
            <a:pPr algn="l" marL="471812" indent="-235906" lvl="1">
              <a:lnSpc>
                <a:spcPts val="3496"/>
              </a:lnSpc>
              <a:buFont typeface="Arial"/>
              <a:buChar char="•"/>
            </a:pP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Regret medio 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su 20000 inizializzazioni casuali degli stessi stati:</a:t>
            </a: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0.073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(min 0.018, max 0.115).</a:t>
            </a:r>
          </a:p>
          <a:p>
            <a:pPr algn="l" marL="471812" indent="-235906" lvl="1">
              <a:lnSpc>
                <a:spcPts val="3496"/>
              </a:lnSpc>
              <a:buFont typeface="Arial"/>
              <a:buChar char="•"/>
            </a:pP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’</a:t>
            </a: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inizializzazione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produce comunque un segnale </a:t>
            </a:r>
            <a:r>
              <a:rPr lang="en-US" b="true" sz="2185" spc="87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migliore</a:t>
            </a:r>
            <a:r>
              <a:rPr lang="en-US" sz="2185" spc="87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 rispetto a quella casuale.</a:t>
            </a:r>
          </a:p>
          <a:p>
            <a:pPr algn="l">
              <a:lnSpc>
                <a:spcPts val="349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30790"/>
            <a:ext cx="107189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Frozenlake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59085" y="2921819"/>
            <a:ext cx="11830696" cy="6582647"/>
          </a:xfrm>
          <a:custGeom>
            <a:avLst/>
            <a:gdLst/>
            <a:ahLst/>
            <a:cxnLst/>
            <a:rect r="r" b="b" t="t" l="l"/>
            <a:pathLst>
              <a:path h="6582647" w="11830696">
                <a:moveTo>
                  <a:pt x="0" y="0"/>
                </a:moveTo>
                <a:lnTo>
                  <a:pt x="11830696" y="0"/>
                </a:lnTo>
                <a:lnTo>
                  <a:pt x="11830696" y="6582647"/>
                </a:lnTo>
                <a:lnTo>
                  <a:pt x="0" y="6582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7" r="0" b="-76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5006" y="2250480"/>
            <a:ext cx="3898853" cy="6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FrozenLake 8x8 -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seed singolo - Init vs std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83830"/>
            <a:ext cx="4775016" cy="59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4547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Esempio su 1 seed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75962"/>
            <a:ext cx="4828467" cy="311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2211" spc="88" b="true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Iperparametri usati:</a:t>
            </a:r>
          </a:p>
          <a:p>
            <a:pPr algn="l" marL="477386" indent="-238693" lvl="1">
              <a:lnSpc>
                <a:spcPts val="3537"/>
              </a:lnSpc>
              <a:buFont typeface="Arial"/>
              <a:buChar char="•"/>
            </a:pP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α = 0.05, γ = 0.99, ε-decay = 0.99.</a:t>
            </a:r>
          </a:p>
          <a:p>
            <a:pPr algn="l" marL="477386" indent="-238693" lvl="1">
              <a:lnSpc>
                <a:spcPts val="3537"/>
              </a:lnSpc>
              <a:buFont typeface="Arial"/>
              <a:buChar char="•"/>
            </a:pP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211" spc="88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onfronto con un agente allenato con iperparametri standard (α = 0.1, γ = 0.99, ε-decay 0.998).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70377" y="2567312"/>
            <a:ext cx="12747245" cy="6999378"/>
          </a:xfrm>
          <a:custGeom>
            <a:avLst/>
            <a:gdLst/>
            <a:ahLst/>
            <a:cxnLst/>
            <a:rect r="r" b="b" t="t" l="l"/>
            <a:pathLst>
              <a:path h="6999378" w="12747245">
                <a:moveTo>
                  <a:pt x="0" y="0"/>
                </a:moveTo>
                <a:lnTo>
                  <a:pt x="12747246" y="0"/>
                </a:lnTo>
                <a:lnTo>
                  <a:pt x="12747246" y="6999378"/>
                </a:lnTo>
                <a:lnTo>
                  <a:pt x="0" y="6999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82" r="0" b="-1024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94573" y="1895973"/>
            <a:ext cx="3898853" cy="6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 b="true">
                <a:solidFill>
                  <a:srgbClr val="1212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FrozenLake 8x8 - gpt-oss:120b</a:t>
            </a:r>
          </a:p>
          <a:p>
            <a:pPr algn="ctr">
              <a:lnSpc>
                <a:spcPts val="2485"/>
              </a:lnSpc>
            </a:pPr>
            <a:r>
              <a:rPr lang="en-US" sz="1775">
                <a:solidFill>
                  <a:srgbClr val="121217"/>
                </a:solidFill>
                <a:latin typeface="Open Sans"/>
                <a:ea typeface="Open Sans"/>
                <a:cs typeface="Open Sans"/>
                <a:sym typeface="Open Sans"/>
              </a:rPr>
              <a:t>seed singolo - Init vs no-Init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Limiti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18</a:t>
            </a:r>
          </a:p>
        </p:txBody>
      </p:sp>
      <p:sp>
        <p:nvSpPr>
          <p:cNvPr name="Freeform 5" id="5"/>
          <p:cNvSpPr/>
          <p:nvPr/>
        </p:nvSpPr>
        <p:spPr>
          <a:xfrm>
            <a:off x="3051162" y="7903482"/>
            <a:ext cx="15470263" cy="2383518"/>
          </a:xfrm>
          <a:custGeom>
            <a:avLst/>
            <a:gdLst/>
            <a:ahLst/>
            <a:cxnLst/>
            <a:rect r="r" b="b" t="t" l="l"/>
            <a:pathLst>
              <a:path h="2383518" w="15470263">
                <a:moveTo>
                  <a:pt x="0" y="2383518"/>
                </a:moveTo>
                <a:lnTo>
                  <a:pt x="0" y="381000"/>
                </a:lnTo>
                <a:cubicBezTo>
                  <a:pt x="0" y="279953"/>
                  <a:pt x="40141" y="183044"/>
                  <a:pt x="111592" y="111592"/>
                </a:cubicBezTo>
                <a:cubicBezTo>
                  <a:pt x="183043" y="40141"/>
                  <a:pt x="279953" y="0"/>
                  <a:pt x="381000" y="0"/>
                </a:cubicBezTo>
                <a:lnTo>
                  <a:pt x="15470263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326147" y="2777920"/>
            <a:ext cx="838249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Limiti dell’approccio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6147" y="3893368"/>
            <a:ext cx="7805037" cy="30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Generalizzazione è stata testata su un subset di seed, i risultati sono un punto di partenza non una prova definitiva.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Risposte LLM lente e costose.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LLM fatica su ambienti non deterministici come FrozenLake.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FE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4878369" cy="1695553"/>
          </a:xfrm>
          <a:custGeom>
            <a:avLst/>
            <a:gdLst/>
            <a:ahLst/>
            <a:cxnLst/>
            <a:rect r="r" b="b" t="t" l="l"/>
            <a:pathLst>
              <a:path h="1695553" w="14878369">
                <a:moveTo>
                  <a:pt x="0" y="1695553"/>
                </a:moveTo>
                <a:lnTo>
                  <a:pt x="14497369" y="1695553"/>
                </a:lnTo>
                <a:cubicBezTo>
                  <a:pt x="14598417" y="1695553"/>
                  <a:pt x="14695326" y="1655412"/>
                  <a:pt x="14766778" y="1583961"/>
                </a:cubicBezTo>
                <a:cubicBezTo>
                  <a:pt x="14838229" y="1512510"/>
                  <a:pt x="14878369" y="1415601"/>
                  <a:pt x="14878369" y="1314553"/>
                </a:cubicBezTo>
                <a:lnTo>
                  <a:pt x="14878369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39115"/>
            <a:ext cx="96569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Futuro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02407"/>
            <a:ext cx="119119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95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41482" y="3088361"/>
            <a:ext cx="7531855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Aspetti esplorabili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41482" y="4311236"/>
            <a:ext cx="7805037" cy="254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Fine-tuning modello locale.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Valutazione di un numero elevato di stati con seed diversi per provare generalizzazione.</a:t>
            </a:r>
          </a:p>
          <a:p>
            <a:pPr algn="l" marL="551557" indent="-275779" lvl="1">
              <a:lnSpc>
                <a:spcPts val="4087"/>
              </a:lnSpc>
              <a:buFont typeface="Arial"/>
              <a:buChar char="•"/>
            </a:pPr>
            <a:r>
              <a:rPr lang="en-US" sz="2554" spc="102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Generazione online di funzione di valore durante il training.</a:t>
            </a:r>
          </a:p>
        </p:txBody>
      </p:sp>
      <p:sp>
        <p:nvSpPr>
          <p:cNvPr name="Freeform 7" id="7"/>
          <p:cNvSpPr/>
          <p:nvPr/>
        </p:nvSpPr>
        <p:spPr>
          <a:xfrm>
            <a:off x="3051162" y="7903482"/>
            <a:ext cx="15470263" cy="2383518"/>
          </a:xfrm>
          <a:custGeom>
            <a:avLst/>
            <a:gdLst/>
            <a:ahLst/>
            <a:cxnLst/>
            <a:rect r="r" b="b" t="t" l="l"/>
            <a:pathLst>
              <a:path h="2383518" w="15470263">
                <a:moveTo>
                  <a:pt x="0" y="2383518"/>
                </a:moveTo>
                <a:lnTo>
                  <a:pt x="0" y="381000"/>
                </a:lnTo>
                <a:cubicBezTo>
                  <a:pt x="0" y="279953"/>
                  <a:pt x="40141" y="183044"/>
                  <a:pt x="111592" y="111592"/>
                </a:cubicBezTo>
                <a:cubicBezTo>
                  <a:pt x="183043" y="40141"/>
                  <a:pt x="279953" y="0"/>
                  <a:pt x="381000" y="0"/>
                </a:cubicBezTo>
                <a:lnTo>
                  <a:pt x="15470263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3109225"/>
            <a:ext cx="14275588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12121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Grazie per l’attenzione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4950" y="2377016"/>
            <a:ext cx="965693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i="true">
                <a:solidFill>
                  <a:srgbClr val="121217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Fine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0222" y="7954518"/>
            <a:ext cx="43582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12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29 SETTEMBRE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90222" y="8417433"/>
            <a:ext cx="43582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126">
                <a:solidFill>
                  <a:srgbClr val="121217"/>
                </a:solidFill>
                <a:latin typeface="Public Sans"/>
                <a:ea typeface="Public Sans"/>
                <a:cs typeface="Public Sans"/>
                <a:sym typeface="Public Sans"/>
              </a:rPr>
              <a:t>PIETRO FAZION</a:t>
            </a:r>
          </a:p>
        </p:txBody>
      </p:sp>
      <p:sp>
        <p:nvSpPr>
          <p:cNvPr name="Freeform 7" id="7"/>
          <p:cNvSpPr/>
          <p:nvPr/>
        </p:nvSpPr>
        <p:spPr>
          <a:xfrm>
            <a:off x="0" y="-647101"/>
            <a:ext cx="16248430" cy="7984622"/>
          </a:xfrm>
          <a:custGeom>
            <a:avLst/>
            <a:gdLst/>
            <a:ahLst/>
            <a:cxnLst/>
            <a:rect r="r" b="b" t="t" l="l"/>
            <a:pathLst>
              <a:path h="7984622" w="16248430">
                <a:moveTo>
                  <a:pt x="0" y="7984622"/>
                </a:moveTo>
                <a:lnTo>
                  <a:pt x="15613768" y="7984622"/>
                </a:lnTo>
                <a:cubicBezTo>
                  <a:pt x="15824189" y="7984622"/>
                  <a:pt x="15994768" y="7814043"/>
                  <a:pt x="15994768" y="7603622"/>
                </a:cubicBezTo>
                <a:lnTo>
                  <a:pt x="15994768" y="126831"/>
                </a:lnTo>
                <a:cubicBezTo>
                  <a:pt x="15994768" y="56784"/>
                  <a:pt x="16051552" y="0"/>
                  <a:pt x="16121599" y="0"/>
                </a:cubicBezTo>
                <a:lnTo>
                  <a:pt x="16248430" y="0"/>
                </a:lnTo>
              </a:path>
            </a:pathLst>
          </a:custGeom>
          <a:ln cap="flat" w="19050">
            <a:solidFill>
              <a:srgbClr val="1212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04950" y="8026908"/>
            <a:ext cx="80318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126">
                <a:solidFill>
                  <a:srgbClr val="12121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4950" y="8489823"/>
            <a:ext cx="562553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 spc="126" u="sng">
                <a:solidFill>
                  <a:srgbClr val="121217"/>
                </a:solidFill>
                <a:latin typeface="Public Sans Italics"/>
                <a:ea typeface="Public Sans Italics"/>
                <a:cs typeface="Public Sans Italics"/>
                <a:sym typeface="Public Sans Italics"/>
                <a:hlinkClick r:id="rId3" tooltip="https://github.com/ttetrao/llm-guided-rl/"/>
              </a:rPr>
              <a:t>https://github.com/ttetrao/llm-guided-rl/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DAHWAMYg740</dc:identifier>
  <dcterms:modified xsi:type="dcterms:W3CDTF">2011-08-01T06:04:30Z</dcterms:modified>
  <cp:revision>1</cp:revision>
  <dc:title>Blue Modern Gradient Professional Business Pitch Deck Presentation</dc:title>
</cp:coreProperties>
</file>